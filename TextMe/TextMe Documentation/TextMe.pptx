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al MT Pro Bold" charset="1" panose="020B0802020202020204"/>
      <p:regular r:id="rId14"/>
    </p:embeddedFont>
    <p:embeddedFont>
      <p:font typeface="Arial MT Pro" charset="1" panose="020B05020202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26.png" Type="http://schemas.openxmlformats.org/officeDocument/2006/relationships/image"/><Relationship Id="rId15" Target="../media/image27.png" Type="http://schemas.openxmlformats.org/officeDocument/2006/relationships/image"/><Relationship Id="rId16" Target="../media/image28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Relationship Id="rId6" Target="../media/image3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96010" y="4685548"/>
            <a:ext cx="3042561" cy="715928"/>
          </a:xfrm>
          <a:custGeom>
            <a:avLst/>
            <a:gdLst/>
            <a:ahLst/>
            <a:cxnLst/>
            <a:rect r="r" b="b" t="t" l="l"/>
            <a:pathLst>
              <a:path h="715928" w="3042561">
                <a:moveTo>
                  <a:pt x="0" y="0"/>
                </a:moveTo>
                <a:lnTo>
                  <a:pt x="3042561" y="0"/>
                </a:lnTo>
                <a:lnTo>
                  <a:pt x="3042561" y="715927"/>
                </a:lnTo>
                <a:lnTo>
                  <a:pt x="0" y="715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66" r="0" b="-46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187482" cy="1053656"/>
            <a:chOff x="0" y="0"/>
            <a:chExt cx="1583309" cy="14048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83309" cy="1404874"/>
            </a:xfrm>
            <a:custGeom>
              <a:avLst/>
              <a:gdLst/>
              <a:ahLst/>
              <a:cxnLst/>
              <a:rect r="r" b="b" t="t" l="l"/>
              <a:pathLst>
                <a:path h="1404874" w="1583309">
                  <a:moveTo>
                    <a:pt x="0" y="0"/>
                  </a:moveTo>
                  <a:lnTo>
                    <a:pt x="1583309" y="0"/>
                  </a:lnTo>
                  <a:lnTo>
                    <a:pt x="1583309" y="1404874"/>
                  </a:lnTo>
                  <a:lnTo>
                    <a:pt x="0" y="1404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542608" y="3695167"/>
            <a:ext cx="3150641" cy="1448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16"/>
              </a:lnSpc>
            </a:pPr>
            <a:r>
              <a:rPr lang="en-US" b="true" sz="12176" spc="-192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Text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93335" y="4994577"/>
            <a:ext cx="2587400" cy="306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6"/>
              </a:lnSpc>
            </a:pPr>
            <a:r>
              <a:rPr lang="en-US" sz="262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Messenger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93250" y="3695167"/>
            <a:ext cx="2389403" cy="159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32"/>
              </a:lnSpc>
            </a:pPr>
            <a:r>
              <a:rPr lang="en-US" b="true" sz="12193" spc="-193">
                <a:solidFill>
                  <a:srgbClr val="00B4FE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92455" y="2770984"/>
            <a:ext cx="3126896" cy="1448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32"/>
              </a:lnSpc>
            </a:pPr>
            <a:r>
              <a:rPr lang="en-US" b="true" sz="12193" spc="-193">
                <a:solidFill>
                  <a:srgbClr val="01B7FE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41709" y="6060643"/>
            <a:ext cx="5050736" cy="214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2"/>
              </a:lnSpc>
            </a:pPr>
            <a:r>
              <a:rPr lang="en-US" sz="4718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Chat, read, share,</a:t>
            </a:r>
          </a:p>
          <a:p>
            <a:pPr algn="l">
              <a:lnSpc>
                <a:spcPts val="4152"/>
              </a:lnSpc>
            </a:pPr>
            <a:r>
              <a:rPr lang="en-US" sz="4718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Text to everyone</a:t>
            </a:r>
          </a:p>
          <a:p>
            <a:pPr algn="l">
              <a:lnSpc>
                <a:spcPts val="4152"/>
              </a:lnSpc>
            </a:pPr>
            <a:r>
              <a:rPr lang="en-US" sz="4718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Together with us.</a:t>
            </a:r>
          </a:p>
          <a:p>
            <a:pPr algn="l">
              <a:lnSpc>
                <a:spcPts val="415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165990" y="9774384"/>
            <a:ext cx="6102601" cy="512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1"/>
              </a:lnSpc>
            </a:pPr>
            <a:r>
              <a:rPr lang="en-US" sz="189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© 2026 TextMe.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0330" y="942584"/>
            <a:ext cx="2491454" cy="2491454"/>
            <a:chOff x="0" y="0"/>
            <a:chExt cx="3321939" cy="33219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21939" cy="3321939"/>
            </a:xfrm>
            <a:custGeom>
              <a:avLst/>
              <a:gdLst/>
              <a:ahLst/>
              <a:cxnLst/>
              <a:rect r="r" b="b" t="t" l="l"/>
              <a:pathLst>
                <a:path h="3321939" w="3321939">
                  <a:moveTo>
                    <a:pt x="0" y="0"/>
                  </a:moveTo>
                  <a:lnTo>
                    <a:pt x="3321939" y="0"/>
                  </a:lnTo>
                  <a:lnTo>
                    <a:pt x="3321939" y="3321939"/>
                  </a:lnTo>
                  <a:lnTo>
                    <a:pt x="0" y="3321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780955"/>
            <a:ext cx="2814733" cy="2814733"/>
            <a:chOff x="0" y="0"/>
            <a:chExt cx="3752977" cy="37529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52977" cy="3752977"/>
            </a:xfrm>
            <a:custGeom>
              <a:avLst/>
              <a:gdLst/>
              <a:ahLst/>
              <a:cxnLst/>
              <a:rect r="r" b="b" t="t" l="l"/>
              <a:pathLst>
                <a:path h="3752977" w="3752977">
                  <a:moveTo>
                    <a:pt x="0" y="0"/>
                  </a:moveTo>
                  <a:lnTo>
                    <a:pt x="3752977" y="0"/>
                  </a:lnTo>
                  <a:lnTo>
                    <a:pt x="3752977" y="3752977"/>
                  </a:lnTo>
                  <a:lnTo>
                    <a:pt x="0" y="3752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690349" y="780955"/>
            <a:ext cx="4122992" cy="2319242"/>
            <a:chOff x="0" y="0"/>
            <a:chExt cx="5497322" cy="30923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97322" cy="3092323"/>
            </a:xfrm>
            <a:custGeom>
              <a:avLst/>
              <a:gdLst/>
              <a:ahLst/>
              <a:cxnLst/>
              <a:rect r="r" b="b" t="t" l="l"/>
              <a:pathLst>
                <a:path h="3092323" w="5497322">
                  <a:moveTo>
                    <a:pt x="0" y="0"/>
                  </a:moveTo>
                  <a:lnTo>
                    <a:pt x="5497322" y="0"/>
                  </a:lnTo>
                  <a:lnTo>
                    <a:pt x="5497322" y="3092323"/>
                  </a:lnTo>
                  <a:lnTo>
                    <a:pt x="0" y="3092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44605" y="619316"/>
            <a:ext cx="2814733" cy="2814733"/>
            <a:chOff x="0" y="0"/>
            <a:chExt cx="3752977" cy="37529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52977" cy="3752977"/>
            </a:xfrm>
            <a:custGeom>
              <a:avLst/>
              <a:gdLst/>
              <a:ahLst/>
              <a:cxnLst/>
              <a:rect r="r" b="b" t="t" l="l"/>
              <a:pathLst>
                <a:path h="3752977" w="3752977">
                  <a:moveTo>
                    <a:pt x="0" y="0"/>
                  </a:moveTo>
                  <a:lnTo>
                    <a:pt x="3752977" y="0"/>
                  </a:lnTo>
                  <a:lnTo>
                    <a:pt x="3752977" y="3752977"/>
                  </a:lnTo>
                  <a:lnTo>
                    <a:pt x="0" y="3752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734173" y="30690"/>
            <a:ext cx="8642699" cy="4315206"/>
            <a:chOff x="0" y="0"/>
            <a:chExt cx="11523599" cy="57536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523599" cy="5753608"/>
            </a:xfrm>
            <a:custGeom>
              <a:avLst/>
              <a:gdLst/>
              <a:ahLst/>
              <a:cxnLst/>
              <a:rect r="r" b="b" t="t" l="l"/>
              <a:pathLst>
                <a:path h="5753608" w="11523599">
                  <a:moveTo>
                    <a:pt x="0" y="0"/>
                  </a:moveTo>
                  <a:lnTo>
                    <a:pt x="11523599" y="0"/>
                  </a:lnTo>
                  <a:lnTo>
                    <a:pt x="11523599" y="5753608"/>
                  </a:lnTo>
                  <a:lnTo>
                    <a:pt x="0" y="5753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87598" y="4222347"/>
            <a:ext cx="17358846" cy="168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4"/>
              </a:lnSpc>
            </a:pPr>
            <a:r>
              <a:rPr lang="en-US" sz="211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Несмотря на популярность мессенджеров, они имеют ряд существенных ограничений.</a:t>
            </a:r>
          </a:p>
          <a:p>
            <a:pPr algn="ctr">
              <a:lnSpc>
                <a:spcPts val="2954"/>
              </a:lnSpc>
            </a:pPr>
            <a:r>
              <a:rPr lang="en-US" sz="211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В некоторых странах доступ к популярным сервисам ограничивается или полностью блокируется. Например Meta (включая Facebook Messenger) ограничена в ряде стран ,Telegram в разное время подвергался блокировкам</a:t>
            </a:r>
          </a:p>
          <a:p>
            <a:pPr algn="ctr">
              <a:lnSpc>
                <a:spcPts val="295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7598" y="5493629"/>
            <a:ext cx="17845545" cy="2060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4"/>
              </a:lnSpc>
            </a:pPr>
            <a:r>
              <a:rPr lang="en-US" sz="211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Современные мессенджеры централизованы и зависят от политики компаний и государств, что может приводить к ограничениям доступа.</a:t>
            </a:r>
          </a:p>
          <a:p>
            <a:pPr algn="ctr">
              <a:lnSpc>
                <a:spcPts val="2954"/>
              </a:lnSpc>
            </a:pPr>
            <a:r>
              <a:rPr lang="en-US" sz="211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В рамках проекта ставится задача создать систему, которая потенциально может быть более устойчивой и доступной для пользователей.</a:t>
            </a:r>
          </a:p>
          <a:p>
            <a:pPr algn="ctr">
              <a:lnSpc>
                <a:spcPts val="295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87598" y="7064340"/>
            <a:ext cx="17845545" cy="154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7"/>
              </a:lnSpc>
            </a:pPr>
            <a:r>
              <a:rPr lang="en-US" sz="1976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Моя цель — разработать мессенджер, который будет максимально доступным и лояльным для пользователей, независимо от их региона. Приложение проектируется с учётом  гибкости инфраструктуры, возможности масштабирования и устойчивости к ограничениям</a:t>
            </a:r>
          </a:p>
          <a:p>
            <a:pPr algn="ctr">
              <a:lnSpc>
                <a:spcPts val="2767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0"/>
            <a:ext cx="1187482" cy="1053656"/>
            <a:chOff x="0" y="0"/>
            <a:chExt cx="1583309" cy="14048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83309" cy="1404874"/>
            </a:xfrm>
            <a:custGeom>
              <a:avLst/>
              <a:gdLst/>
              <a:ahLst/>
              <a:cxnLst/>
              <a:rect r="r" b="b" t="t" l="l"/>
              <a:pathLst>
                <a:path h="1404874" w="1583309">
                  <a:moveTo>
                    <a:pt x="0" y="0"/>
                  </a:moveTo>
                  <a:lnTo>
                    <a:pt x="1583309" y="0"/>
                  </a:lnTo>
                  <a:lnTo>
                    <a:pt x="1583309" y="1404874"/>
                  </a:lnTo>
                  <a:lnTo>
                    <a:pt x="0" y="1404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165990" y="9774384"/>
            <a:ext cx="6102601" cy="512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1"/>
              </a:lnSpc>
            </a:pPr>
            <a:r>
              <a:rPr lang="en-US" sz="189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© 2026 TextMe.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187482" cy="1053656"/>
            <a:chOff x="0" y="0"/>
            <a:chExt cx="1583309" cy="14048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3309" cy="1404874"/>
            </a:xfrm>
            <a:custGeom>
              <a:avLst/>
              <a:gdLst/>
              <a:ahLst/>
              <a:cxnLst/>
              <a:rect r="r" b="b" t="t" l="l"/>
              <a:pathLst>
                <a:path h="1404874" w="1583309">
                  <a:moveTo>
                    <a:pt x="0" y="0"/>
                  </a:moveTo>
                  <a:lnTo>
                    <a:pt x="1583309" y="0"/>
                  </a:lnTo>
                  <a:lnTo>
                    <a:pt x="1583309" y="1404874"/>
                  </a:lnTo>
                  <a:lnTo>
                    <a:pt x="0" y="1404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165990" y="9774384"/>
            <a:ext cx="6102601" cy="512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1"/>
              </a:lnSpc>
            </a:pPr>
            <a:r>
              <a:rPr lang="en-US" sz="189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© 2026 TextMe. All rights reserved.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12487"/>
            <a:ext cx="18288000" cy="987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5"/>
              </a:lnSpc>
            </a:pPr>
            <a:r>
              <a:rPr lang="en-US" sz="423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Всё что нужно для общения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1397756"/>
            <a:ext cx="18288000" cy="7755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594" indent="-172648" lvl="3">
              <a:lnSpc>
                <a:spcPts val="3541"/>
              </a:lnSpc>
              <a:buFont typeface="Arial"/>
              <a:buChar char="￭"/>
            </a:pPr>
            <a:r>
              <a:rPr lang="en-US" sz="252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Мгновенный обмен сообщениями: Реализован на базе SignalR для доставки «в реальном времени».</a:t>
            </a:r>
          </a:p>
          <a:p>
            <a:pPr algn="ctr" marL="690594" indent="-172648" lvl="3">
              <a:lnSpc>
                <a:spcPts val="3541"/>
              </a:lnSpc>
              <a:buFont typeface="Arial"/>
              <a:buChar char="￭"/>
            </a:pPr>
            <a:r>
              <a:rPr lang="en-US" sz="252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Групповые чаты: Создание сообществ и коллективное обсуждение.</a:t>
            </a:r>
          </a:p>
          <a:p>
            <a:pPr algn="ctr" marL="690594" indent="-172648" lvl="3">
              <a:lnSpc>
                <a:spcPts val="3541"/>
              </a:lnSpc>
              <a:buFont typeface="Arial"/>
              <a:buChar char="￭"/>
            </a:pPr>
            <a:r>
              <a:rPr lang="en-US" sz="252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Статусы сообщений: Индикаторы отправки, доставки и прочтения.</a:t>
            </a:r>
          </a:p>
          <a:p>
            <a:pPr algn="ctr" marL="690594" indent="-172648" lvl="3">
              <a:lnSpc>
                <a:spcPts val="3541"/>
              </a:lnSpc>
              <a:buFont typeface="Arial"/>
              <a:buChar char="￭"/>
            </a:pPr>
            <a:r>
              <a:rPr lang="en-US" sz="252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Редактирование и удаление: Полный контроль над своей перепиской.</a:t>
            </a:r>
          </a:p>
          <a:p>
            <a:pPr algn="ctr" marL="690594" indent="-172648" lvl="3">
              <a:lnSpc>
                <a:spcPts val="3541"/>
              </a:lnSpc>
              <a:buFont typeface="Arial"/>
              <a:buChar char="￭"/>
            </a:pPr>
            <a:r>
              <a:rPr lang="en-US" sz="252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Умные ответы: Возможность отвечать на конкретные сообщения (Reply).</a:t>
            </a:r>
          </a:p>
          <a:p>
            <a:pPr algn="ctr" marL="690594" indent="-172648" lvl="3">
              <a:lnSpc>
                <a:spcPts val="3541"/>
              </a:lnSpc>
              <a:buFont typeface="Arial"/>
              <a:buChar char="￭"/>
            </a:pPr>
            <a:r>
              <a:rPr lang="en-US" sz="252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Аудио и Видеозвонки: Реализованы через WebRTC (P2P), что обеспечивает минимальную задержку и высокое качество связи.</a:t>
            </a:r>
          </a:p>
          <a:p>
            <a:pPr algn="ctr" marL="690594" indent="-172648" lvl="3">
              <a:lnSpc>
                <a:spcPts val="3541"/>
              </a:lnSpc>
              <a:buFont typeface="Arial"/>
              <a:buChar char="￭"/>
            </a:pPr>
            <a:r>
              <a:rPr lang="en-US" sz="252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Голосовые сообщения: Удобная запись и прослушивание прямо в чате.</a:t>
            </a:r>
          </a:p>
          <a:p>
            <a:pPr algn="ctr" marL="690594" indent="-172648" lvl="3">
              <a:lnSpc>
                <a:spcPts val="3541"/>
              </a:lnSpc>
              <a:buFont typeface="Arial"/>
              <a:buChar char="￭"/>
            </a:pPr>
            <a:r>
              <a:rPr lang="en-US" sz="252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Обмен файлами: Быстрая загрузка изображений и видео через облачное хранилище Cloudinary.</a:t>
            </a:r>
          </a:p>
          <a:p>
            <a:pPr algn="ctr" marL="690594" indent="-172648" lvl="3">
              <a:lnSpc>
                <a:spcPts val="3541"/>
              </a:lnSpc>
              <a:buFont typeface="Arial"/>
              <a:buChar char="￭"/>
            </a:pPr>
            <a:r>
              <a:rPr lang="en-US" sz="252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Интеграция новостей: Инновационная функция шаринга новостных карточек (TMNews) с сохранением интерактивности.</a:t>
            </a:r>
          </a:p>
          <a:p>
            <a:pPr algn="ctr" marL="690594" indent="-172648" lvl="3">
              <a:lnSpc>
                <a:spcPts val="3541"/>
              </a:lnSpc>
              <a:buFont typeface="Arial"/>
              <a:buChar char="￭"/>
            </a:pPr>
            <a:r>
              <a:rPr lang="en-US" sz="252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Сквозное шифрование (AES-256): Все сообщения шифруются на сервере перед сохранением в базу данных.</a:t>
            </a:r>
          </a:p>
          <a:p>
            <a:pPr algn="ctr" marL="690594" indent="-172648" lvl="3">
              <a:lnSpc>
                <a:spcPts val="3541"/>
              </a:lnSpc>
              <a:buFont typeface="Arial"/>
              <a:buChar char="￭"/>
            </a:pPr>
            <a:r>
              <a:rPr lang="en-US" sz="252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Безопасная авторизация: Использование JWT-токенов и защищенное хранение паролей (ASP.NET Identity).</a:t>
            </a:r>
          </a:p>
          <a:p>
            <a:pPr algn="ctr" marL="690594" indent="-172648" lvl="3">
              <a:lnSpc>
                <a:spcPts val="3541"/>
              </a:lnSpc>
              <a:buFont typeface="Arial"/>
              <a:buChar char="￭"/>
            </a:pPr>
            <a:r>
              <a:rPr lang="en-US" sz="252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Статусы присутствия: Настройка приватности отображения времени последнего входа (Presence Hidden).</a:t>
            </a:r>
          </a:p>
          <a:p>
            <a:pPr algn="ctr" marL="690594" indent="-172648" lvl="3">
              <a:lnSpc>
                <a:spcPts val="3541"/>
              </a:lnSpc>
              <a:buFont typeface="Arial"/>
              <a:buChar char="￭"/>
            </a:pPr>
            <a:r>
              <a:rPr lang="en-US" sz="252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Шифрование IV: Уникальный вектор инициализации для каждого сообщения делает взлом практически невозможным.</a:t>
            </a:r>
          </a:p>
          <a:p>
            <a:pPr algn="ctr" marL="690594" indent="-172648" lvl="3">
              <a:lnSpc>
                <a:spcPts val="354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38656" y="8248117"/>
            <a:ext cx="213798" cy="114281"/>
          </a:xfrm>
          <a:custGeom>
            <a:avLst/>
            <a:gdLst/>
            <a:ahLst/>
            <a:cxnLst/>
            <a:rect r="r" b="b" t="t" l="l"/>
            <a:pathLst>
              <a:path h="114281" w="213798">
                <a:moveTo>
                  <a:pt x="0" y="0"/>
                </a:moveTo>
                <a:lnTo>
                  <a:pt x="213798" y="0"/>
                </a:lnTo>
                <a:lnTo>
                  <a:pt x="213798" y="114281"/>
                </a:lnTo>
                <a:lnTo>
                  <a:pt x="0" y="114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867" r="0" b="-287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187482" cy="1053656"/>
            <a:chOff x="0" y="0"/>
            <a:chExt cx="1583309" cy="14048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83309" cy="1404874"/>
            </a:xfrm>
            <a:custGeom>
              <a:avLst/>
              <a:gdLst/>
              <a:ahLst/>
              <a:cxnLst/>
              <a:rect r="r" b="b" t="t" l="l"/>
              <a:pathLst>
                <a:path h="1404874" w="1583309">
                  <a:moveTo>
                    <a:pt x="0" y="0"/>
                  </a:moveTo>
                  <a:lnTo>
                    <a:pt x="1583309" y="0"/>
                  </a:lnTo>
                  <a:lnTo>
                    <a:pt x="1583309" y="1404874"/>
                  </a:lnTo>
                  <a:lnTo>
                    <a:pt x="0" y="1404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0" y="12487"/>
            <a:ext cx="18288000" cy="1740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5"/>
              </a:lnSpc>
            </a:pPr>
            <a:r>
              <a:rPr lang="en-US" sz="423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Используемые технологии</a:t>
            </a:r>
          </a:p>
          <a:p>
            <a:pPr algn="ctr">
              <a:lnSpc>
                <a:spcPts val="5935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817675" y="804929"/>
            <a:ext cx="3103769" cy="133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28"/>
              </a:lnSpc>
            </a:pPr>
            <a:r>
              <a:rPr lang="en-US" sz="5734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Backend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87472" y="2572998"/>
            <a:ext cx="4531357" cy="5891203"/>
          </a:xfrm>
          <a:custGeom>
            <a:avLst/>
            <a:gdLst/>
            <a:ahLst/>
            <a:cxnLst/>
            <a:rect r="r" b="b" t="t" l="l"/>
            <a:pathLst>
              <a:path h="5891203" w="4531357">
                <a:moveTo>
                  <a:pt x="0" y="0"/>
                </a:moveTo>
                <a:lnTo>
                  <a:pt x="4531357" y="0"/>
                </a:lnTo>
                <a:lnTo>
                  <a:pt x="4531357" y="5891203"/>
                </a:lnTo>
                <a:lnTo>
                  <a:pt x="0" y="58912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" r="0" b="-1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588444" y="801538"/>
            <a:ext cx="3265961" cy="133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28"/>
              </a:lnSpc>
            </a:pPr>
            <a:r>
              <a:rPr lang="en-US" sz="5734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Frontend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5400000">
            <a:off x="12950742" y="8407060"/>
            <a:ext cx="213798" cy="114281"/>
          </a:xfrm>
          <a:custGeom>
            <a:avLst/>
            <a:gdLst/>
            <a:ahLst/>
            <a:cxnLst/>
            <a:rect r="r" b="b" t="t" l="l"/>
            <a:pathLst>
              <a:path h="114281" w="213798">
                <a:moveTo>
                  <a:pt x="0" y="0"/>
                </a:moveTo>
                <a:lnTo>
                  <a:pt x="213799" y="0"/>
                </a:lnTo>
                <a:lnTo>
                  <a:pt x="213799" y="114281"/>
                </a:lnTo>
                <a:lnTo>
                  <a:pt x="0" y="114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867" r="0" b="-287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65990" y="9774384"/>
            <a:ext cx="6102601" cy="512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1"/>
              </a:lnSpc>
            </a:pPr>
            <a:r>
              <a:rPr lang="en-US" sz="189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© 2026 TextMe. All rights reserved.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17661" y="815816"/>
            <a:ext cx="2306364" cy="1559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28"/>
              </a:lnSpc>
            </a:pPr>
            <a:r>
              <a:rPr lang="en-US" sz="5734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Mobile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878317" y="2572998"/>
            <a:ext cx="4531357" cy="5891203"/>
          </a:xfrm>
          <a:custGeom>
            <a:avLst/>
            <a:gdLst/>
            <a:ahLst/>
            <a:cxnLst/>
            <a:rect r="r" b="b" t="t" l="l"/>
            <a:pathLst>
              <a:path h="5891203" w="4531357">
                <a:moveTo>
                  <a:pt x="0" y="0"/>
                </a:moveTo>
                <a:lnTo>
                  <a:pt x="4531357" y="0"/>
                </a:lnTo>
                <a:lnTo>
                  <a:pt x="4531357" y="5891203"/>
                </a:lnTo>
                <a:lnTo>
                  <a:pt x="0" y="58912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" r="0" b="-1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571733" y="2520953"/>
            <a:ext cx="4531357" cy="5891203"/>
          </a:xfrm>
          <a:custGeom>
            <a:avLst/>
            <a:gdLst/>
            <a:ahLst/>
            <a:cxnLst/>
            <a:rect r="r" b="b" t="t" l="l"/>
            <a:pathLst>
              <a:path h="5891203" w="4531357">
                <a:moveTo>
                  <a:pt x="0" y="0"/>
                </a:moveTo>
                <a:lnTo>
                  <a:pt x="4531357" y="0"/>
                </a:lnTo>
                <a:lnTo>
                  <a:pt x="4531357" y="5891203"/>
                </a:lnTo>
                <a:lnTo>
                  <a:pt x="0" y="58912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" r="0" b="-12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571733" y="2568397"/>
            <a:ext cx="4215736" cy="486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8196" indent="-114549" lvl="3">
              <a:lnSpc>
                <a:spcPts val="2349"/>
              </a:lnSpc>
              <a:buFont typeface="Arial"/>
              <a:buChar char="￭"/>
            </a:pPr>
            <a:r>
              <a:rPr lang="en-US" sz="167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Движок: React Native + Expo SDK 54+.</a:t>
            </a:r>
          </a:p>
          <a:p>
            <a:pPr algn="ctr" marL="458196" indent="-114549" lvl="3">
              <a:lnSpc>
                <a:spcPts val="2349"/>
              </a:lnSpc>
              <a:buFont typeface="Arial"/>
              <a:buChar char="￭"/>
            </a:pPr>
            <a:r>
              <a:rPr lang="en-US" sz="167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Архитектура: Feature-Sliced Design (FSD) — модульная структура для легкой поддержки.</a:t>
            </a:r>
          </a:p>
          <a:p>
            <a:pPr algn="ctr" marL="458196" indent="-114549" lvl="3">
              <a:lnSpc>
                <a:spcPts val="2349"/>
              </a:lnSpc>
              <a:buFont typeface="Arial"/>
              <a:buChar char="￭"/>
            </a:pPr>
            <a:r>
              <a:rPr lang="en-US" sz="167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Стиль: Styled Components (Native) для кастомного UI и динамических тем.</a:t>
            </a:r>
          </a:p>
          <a:p>
            <a:pPr algn="ctr" marL="458196" indent="-114549" lvl="3">
              <a:lnSpc>
                <a:spcPts val="2349"/>
              </a:lnSpc>
              <a:buFont typeface="Arial"/>
              <a:buChar char="￭"/>
            </a:pPr>
            <a:r>
              <a:rPr lang="en-US" sz="167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Real-time: SignalR &amp; WebRTC для мгновенных чатов и звонков.</a:t>
            </a:r>
          </a:p>
          <a:p>
            <a:pPr algn="ctr" marL="458196" indent="-114549" lvl="3">
              <a:lnSpc>
                <a:spcPts val="2349"/>
              </a:lnSpc>
              <a:buFont typeface="Arial"/>
              <a:buChar char="￭"/>
            </a:pPr>
            <a:r>
              <a:rPr lang="en-US" sz="167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Безопасность: Expo Secure Store для защиты пользовательских данных.</a:t>
            </a:r>
          </a:p>
          <a:p>
            <a:pPr algn="ctr" marL="458196" indent="-114549" lvl="3">
              <a:lnSpc>
                <a:spcPts val="2349"/>
              </a:lnSpc>
              <a:buFont typeface="Arial"/>
              <a:buChar char="￭"/>
            </a:pPr>
            <a:r>
              <a:rPr lang="en-US" sz="167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Анимации: React Native Reanimated для премиального пользовательского опыта.</a:t>
            </a:r>
          </a:p>
          <a:p>
            <a:pPr algn="ctr" marL="458196" indent="-114549" lvl="3">
              <a:lnSpc>
                <a:spcPts val="2349"/>
              </a:lnSpc>
              <a:buFont typeface="Arial"/>
              <a:buChar char="￭"/>
            </a:pPr>
            <a:r>
              <a:rPr lang="en-US" sz="167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Язык: TypeScript — строгая типизация всей бизнес-логики.</a:t>
            </a:r>
          </a:p>
          <a:p>
            <a:pPr algn="ctr" marL="458196" indent="-114549" lvl="3">
              <a:lnSpc>
                <a:spcPts val="234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92542" y="2596972"/>
            <a:ext cx="4321235" cy="5717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0938" indent="-95234" lvl="3">
              <a:lnSpc>
                <a:spcPts val="1953"/>
              </a:lnSpc>
              <a:buFont typeface="Arial"/>
              <a:buChar char="￭"/>
            </a:pPr>
            <a:r>
              <a:rPr lang="en-US" sz="139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Ядро: ASP.NET Core 10 — высокопроизводительный современный фреймворк для Enterprise-решений.</a:t>
            </a:r>
          </a:p>
          <a:p>
            <a:pPr algn="ctr" marL="380938" indent="-95234" lvl="3">
              <a:lnSpc>
                <a:spcPts val="1953"/>
              </a:lnSpc>
              <a:buFont typeface="Arial"/>
              <a:buChar char="￭"/>
            </a:pPr>
            <a:r>
              <a:rPr lang="en-US" sz="139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Логика: CQRS + MediatR — паттерн разделения команд и запросов для идеальной чистоты кода и масштабируемости.</a:t>
            </a:r>
          </a:p>
          <a:p>
            <a:pPr algn="ctr" marL="380938" indent="-95234" lvl="3">
              <a:lnSpc>
                <a:spcPts val="1953"/>
              </a:lnSpc>
              <a:buFont typeface="Arial"/>
              <a:buChar char="￭"/>
            </a:pPr>
            <a:r>
              <a:rPr lang="en-US" sz="139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Данные: EF Core + SQL Server — надежное управление реляционными данными и сложными связями.</a:t>
            </a:r>
          </a:p>
          <a:p>
            <a:pPr algn="ctr" marL="380938" indent="-95234" lvl="3">
              <a:lnSpc>
                <a:spcPts val="1953"/>
              </a:lnSpc>
              <a:buFont typeface="Arial"/>
              <a:buChar char="￭"/>
            </a:pPr>
            <a:r>
              <a:rPr lang="en-US" sz="139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Безопасность: AES-256 + Identity JWT — симметричное шифрование переписок и защищенная авторизация.</a:t>
            </a:r>
          </a:p>
          <a:p>
            <a:pPr algn="ctr" marL="380938" indent="-95234" lvl="3">
              <a:lnSpc>
                <a:spcPts val="1953"/>
              </a:lnSpc>
              <a:buFont typeface="Arial"/>
              <a:buChar char="￭"/>
            </a:pPr>
            <a:r>
              <a:rPr lang="en-US" sz="139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Real-time: SignalR Hubs — серверная оркестрация WebSocket-соединений для мгновенной доставки сообщений.</a:t>
            </a:r>
          </a:p>
          <a:p>
            <a:pPr algn="ctr" marL="380938" indent="-95234" lvl="3">
              <a:lnSpc>
                <a:spcPts val="1953"/>
              </a:lnSpc>
              <a:buFont typeface="Arial"/>
              <a:buChar char="￭"/>
            </a:pPr>
            <a:r>
              <a:rPr lang="en-US" sz="139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Медиа: Cloudinary SDK — облачная обработка, оптимизация и хранение медиаконтента.</a:t>
            </a:r>
          </a:p>
          <a:p>
            <a:pPr algn="ctr" marL="380938" indent="-95234" lvl="3">
              <a:lnSpc>
                <a:spcPts val="1953"/>
              </a:lnSpc>
              <a:buFont typeface="Arial"/>
              <a:buChar char="￭"/>
            </a:pPr>
            <a:r>
              <a:rPr lang="en-US" sz="139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Валидация: FluentValidation — строгая проверка всех входящих бизнес-данных на стороне сервера.</a:t>
            </a:r>
          </a:p>
          <a:p>
            <a:pPr algn="ctr" marL="380938" indent="-95234" lvl="3">
              <a:lnSpc>
                <a:spcPts val="1953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7030021" y="2568397"/>
            <a:ext cx="4227957" cy="6002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13559" indent="-103390" lvl="3">
              <a:lnSpc>
                <a:spcPts val="2120"/>
              </a:lnSpc>
              <a:buFont typeface="Arial"/>
              <a:buChar char="￭"/>
            </a:pPr>
            <a:r>
              <a:rPr lang="en-US" sz="151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Основа: React 19 + Vite — самая актуальная база для создания быстрого и отзывчивого SPA.</a:t>
            </a:r>
          </a:p>
          <a:p>
            <a:pPr algn="ctr" marL="413559" indent="-103390" lvl="3">
              <a:lnSpc>
                <a:spcPts val="2120"/>
              </a:lnSpc>
              <a:buFont typeface="Arial"/>
              <a:buChar char="￭"/>
            </a:pPr>
            <a:r>
              <a:rPr lang="en-US" sz="151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Архитектура: Feature-Sliced Design (FSD) — единый стандарт структуры кода, общий с мобильной версией.</a:t>
            </a:r>
          </a:p>
          <a:p>
            <a:pPr algn="ctr" marL="413559" indent="-103390" lvl="3">
              <a:lnSpc>
                <a:spcPts val="2120"/>
              </a:lnSpc>
              <a:buFont typeface="Arial"/>
              <a:buChar char="￭"/>
            </a:pPr>
            <a:r>
              <a:rPr lang="en-US" sz="151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Стейт: Redux Toolkit — предсказуемое управление глобальным состоянием чатов, звонков и профиля.</a:t>
            </a:r>
          </a:p>
          <a:p>
            <a:pPr algn="ctr" marL="413559" indent="-103390" lvl="3">
              <a:lnSpc>
                <a:spcPts val="2120"/>
              </a:lnSpc>
              <a:buFont typeface="Arial"/>
              <a:buChar char="￭"/>
            </a:pPr>
            <a:r>
              <a:rPr lang="en-US" sz="151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Дизайн: Glassmorphism (Liquid Glass) — премиальный «стеклянный» интерфейс с поддержкой динамических тем.</a:t>
            </a:r>
          </a:p>
          <a:p>
            <a:pPr algn="ctr" marL="413559" indent="-103390" lvl="3">
              <a:lnSpc>
                <a:spcPts val="2120"/>
              </a:lnSpc>
              <a:buFont typeface="Arial"/>
              <a:buChar char="￭"/>
            </a:pPr>
            <a:r>
              <a:rPr lang="en-US" sz="151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Формы: React Hook Form — высокопроизводительная обработка ввода без лишних ререндеров.</a:t>
            </a:r>
          </a:p>
          <a:p>
            <a:pPr algn="ctr" marL="413559" indent="-103390" lvl="3">
              <a:lnSpc>
                <a:spcPts val="2120"/>
              </a:lnSpc>
              <a:buFont typeface="Arial"/>
              <a:buChar char="￭"/>
            </a:pPr>
            <a:r>
              <a:rPr lang="en-US" sz="151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Real-time: SignalR Client — бесшовная фоновая синхронизация данных с сервером.</a:t>
            </a:r>
          </a:p>
          <a:p>
            <a:pPr algn="ctr" marL="413559" indent="-103390" lvl="3">
              <a:lnSpc>
                <a:spcPts val="2120"/>
              </a:lnSpc>
              <a:buFont typeface="Arial"/>
              <a:buChar char="￭"/>
            </a:pPr>
            <a:r>
              <a:rPr lang="en-US" sz="151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Язык: TypeScript — полная типизация фронтенда для исключения ошибок в рантайме.</a:t>
            </a:r>
          </a:p>
          <a:p>
            <a:pPr algn="ctr" marL="413559" indent="-103390" lvl="3">
              <a:lnSpc>
                <a:spcPts val="212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285" y="12487"/>
            <a:ext cx="18288000" cy="115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5"/>
              </a:lnSpc>
            </a:pPr>
            <a:r>
              <a:rPr lang="en-US" sz="423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Архитектура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187482" cy="1053656"/>
            <a:chOff x="0" y="0"/>
            <a:chExt cx="1583309" cy="14048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83309" cy="1404874"/>
            </a:xfrm>
            <a:custGeom>
              <a:avLst/>
              <a:gdLst/>
              <a:ahLst/>
              <a:cxnLst/>
              <a:rect r="r" b="b" t="t" l="l"/>
              <a:pathLst>
                <a:path h="1404874" w="1583309">
                  <a:moveTo>
                    <a:pt x="0" y="0"/>
                  </a:moveTo>
                  <a:lnTo>
                    <a:pt x="1583309" y="0"/>
                  </a:lnTo>
                  <a:lnTo>
                    <a:pt x="1583309" y="1404874"/>
                  </a:lnTo>
                  <a:lnTo>
                    <a:pt x="0" y="1404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54548" y="3447336"/>
            <a:ext cx="6850856" cy="4364164"/>
            <a:chOff x="0" y="0"/>
            <a:chExt cx="9134475" cy="58188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34475" cy="5818886"/>
            </a:xfrm>
            <a:custGeom>
              <a:avLst/>
              <a:gdLst/>
              <a:ahLst/>
              <a:cxnLst/>
              <a:rect r="r" b="b" t="t" l="l"/>
              <a:pathLst>
                <a:path h="5818886" w="9134475">
                  <a:moveTo>
                    <a:pt x="0" y="0"/>
                  </a:moveTo>
                  <a:lnTo>
                    <a:pt x="9134475" y="0"/>
                  </a:lnTo>
                  <a:lnTo>
                    <a:pt x="9134475" y="5818886"/>
                  </a:lnTo>
                  <a:lnTo>
                    <a:pt x="0" y="5818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822859" y="3447336"/>
            <a:ext cx="4490656" cy="4364164"/>
            <a:chOff x="0" y="0"/>
            <a:chExt cx="5987542" cy="58188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87542" cy="5818886"/>
            </a:xfrm>
            <a:custGeom>
              <a:avLst/>
              <a:gdLst/>
              <a:ahLst/>
              <a:cxnLst/>
              <a:rect r="r" b="b" t="t" l="l"/>
              <a:pathLst>
                <a:path h="5818886" w="5987542">
                  <a:moveTo>
                    <a:pt x="0" y="0"/>
                  </a:moveTo>
                  <a:lnTo>
                    <a:pt x="5987542" y="0"/>
                  </a:lnTo>
                  <a:lnTo>
                    <a:pt x="5987542" y="5818886"/>
                  </a:lnTo>
                  <a:lnTo>
                    <a:pt x="0" y="5818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9" t="0" r="-69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93741" y="2636568"/>
            <a:ext cx="7909217" cy="638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5"/>
              </a:lnSpc>
            </a:pPr>
            <a:r>
              <a:rPr lang="en-US" sz="233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CQRS — разделение операций чтения и записи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05385" y="2636568"/>
            <a:ext cx="8705640" cy="638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5"/>
              </a:lnSpc>
            </a:pPr>
            <a:r>
              <a:rPr lang="en-US" sz="233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Onion Architecture — разделение приложения на слои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685" y="7840047"/>
            <a:ext cx="18038331" cy="1591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6"/>
              </a:lnSpc>
            </a:pPr>
            <a:r>
              <a:rPr lang="en-US" sz="2553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Такой подход позволяет упростить поддержку проекта,повысить масштабируемость и  обеспечить гибкость при добавлении нового функционала</a:t>
            </a:r>
          </a:p>
          <a:p>
            <a:pPr algn="ctr">
              <a:lnSpc>
                <a:spcPts val="3576"/>
              </a:lnSpc>
            </a:pPr>
            <a:r>
              <a:rPr lang="en-US" sz="2553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льзованием современных архитектурных подходов: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65990" y="9774384"/>
            <a:ext cx="6102601" cy="512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1"/>
              </a:lnSpc>
            </a:pPr>
            <a:r>
              <a:rPr lang="en-US" sz="189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© 2026 TextMe. All rights reserved.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285" y="12487"/>
            <a:ext cx="18288000" cy="115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5"/>
              </a:lnSpc>
            </a:pPr>
            <a:r>
              <a:rPr lang="en-US" sz="423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Архитектура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187482" cy="1053656"/>
            <a:chOff x="0" y="0"/>
            <a:chExt cx="1583309" cy="14048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83309" cy="1404874"/>
            </a:xfrm>
            <a:custGeom>
              <a:avLst/>
              <a:gdLst/>
              <a:ahLst/>
              <a:cxnLst/>
              <a:rect r="r" b="b" t="t" l="l"/>
              <a:pathLst>
                <a:path h="1404874" w="1583309">
                  <a:moveTo>
                    <a:pt x="0" y="0"/>
                  </a:moveTo>
                  <a:lnTo>
                    <a:pt x="1583309" y="0"/>
                  </a:lnTo>
                  <a:lnTo>
                    <a:pt x="1583309" y="1404874"/>
                  </a:lnTo>
                  <a:lnTo>
                    <a:pt x="0" y="1404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05886" y="3492284"/>
            <a:ext cx="5622798" cy="4090606"/>
            <a:chOff x="0" y="0"/>
            <a:chExt cx="7497064" cy="54541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97064" cy="5454142"/>
            </a:xfrm>
            <a:custGeom>
              <a:avLst/>
              <a:gdLst/>
              <a:ahLst/>
              <a:cxnLst/>
              <a:rect r="r" b="b" t="t" l="l"/>
              <a:pathLst>
                <a:path h="5454142" w="7497064">
                  <a:moveTo>
                    <a:pt x="0" y="0"/>
                  </a:moveTo>
                  <a:lnTo>
                    <a:pt x="7497064" y="0"/>
                  </a:lnTo>
                  <a:lnTo>
                    <a:pt x="7497064" y="5454142"/>
                  </a:lnTo>
                  <a:lnTo>
                    <a:pt x="0" y="54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4835" y="7754322"/>
            <a:ext cx="18038331" cy="1591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6"/>
              </a:lnSpc>
            </a:pPr>
            <a:r>
              <a:rPr lang="en-US" sz="2553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Методология FSD обеспечивает строгую структуру и минимизирует зависимости между модулями. Это делает код предсказуемым, упрощает тестирование и позволяет быстро внедрять новые фичи, сохраняя стабильность системы при масштабном расширении проекта.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65990" y="9774384"/>
            <a:ext cx="6102601" cy="512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1"/>
              </a:lnSpc>
            </a:pPr>
            <a:r>
              <a:rPr lang="en-US" sz="189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© 2026 TextMe. All rights reserved.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89391" y="1252261"/>
            <a:ext cx="7909217" cy="1873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5"/>
              </a:lnSpc>
            </a:pPr>
            <a:r>
              <a:rPr lang="en-US" sz="233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Feature-Sliced Design — современную архитектурную методологию для фронтенд-приложений (React, Vue и др.), организующую код по функциональным модулям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6877" y="3958199"/>
            <a:ext cx="1820323" cy="741731"/>
          </a:xfrm>
          <a:custGeom>
            <a:avLst/>
            <a:gdLst/>
            <a:ahLst/>
            <a:cxnLst/>
            <a:rect r="r" b="b" t="t" l="l"/>
            <a:pathLst>
              <a:path h="741731" w="1820323">
                <a:moveTo>
                  <a:pt x="0" y="0"/>
                </a:moveTo>
                <a:lnTo>
                  <a:pt x="1820323" y="0"/>
                </a:lnTo>
                <a:lnTo>
                  <a:pt x="1820323" y="741731"/>
                </a:lnTo>
                <a:lnTo>
                  <a:pt x="0" y="741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0" t="0" r="-15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5137" y="4049487"/>
            <a:ext cx="1783804" cy="632193"/>
            <a:chOff x="0" y="0"/>
            <a:chExt cx="2378405" cy="8429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78456" cy="842899"/>
            </a:xfrm>
            <a:custGeom>
              <a:avLst/>
              <a:gdLst/>
              <a:ahLst/>
              <a:cxnLst/>
              <a:rect r="r" b="b" t="t" l="l"/>
              <a:pathLst>
                <a:path h="842899" w="2378456">
                  <a:moveTo>
                    <a:pt x="0" y="0"/>
                  </a:moveTo>
                  <a:lnTo>
                    <a:pt x="2378456" y="0"/>
                  </a:lnTo>
                  <a:lnTo>
                    <a:pt x="2378456" y="842899"/>
                  </a:lnTo>
                  <a:lnTo>
                    <a:pt x="0" y="8428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41" r="2" b="-4943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85137" y="4063775"/>
            <a:ext cx="1783804" cy="617906"/>
            <a:chOff x="0" y="0"/>
            <a:chExt cx="2378405" cy="8238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8405" cy="823874"/>
            </a:xfrm>
            <a:custGeom>
              <a:avLst/>
              <a:gdLst/>
              <a:ahLst/>
              <a:cxnLst/>
              <a:rect r="r" b="b" t="t" l="l"/>
              <a:pathLst>
                <a:path h="823874" w="2378405">
                  <a:moveTo>
                    <a:pt x="0" y="0"/>
                  </a:moveTo>
                  <a:lnTo>
                    <a:pt x="2378405" y="0"/>
                  </a:lnTo>
                  <a:lnTo>
                    <a:pt x="2378405" y="823874"/>
                  </a:lnTo>
                  <a:lnTo>
                    <a:pt x="0" y="82387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50" r="0" b="-62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378405" cy="804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87"/>
                </a:lnSpc>
              </a:pPr>
              <a:r>
                <a:rPr lang="en-US" sz="1575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r</a:t>
              </a:r>
              <a:r>
                <a:rPr lang="en-US" sz="1575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Render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3285" y="47549"/>
            <a:ext cx="18288000" cy="115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5"/>
              </a:lnSpc>
            </a:pPr>
            <a:r>
              <a:rPr lang="en-US" sz="423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Инфраструктура и сервисы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0" y="0"/>
            <a:ext cx="1187482" cy="1053656"/>
            <a:chOff x="0" y="0"/>
            <a:chExt cx="1583309" cy="14048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83309" cy="1404874"/>
            </a:xfrm>
            <a:custGeom>
              <a:avLst/>
              <a:gdLst/>
              <a:ahLst/>
              <a:cxnLst/>
              <a:rect r="r" b="b" t="t" l="l"/>
              <a:pathLst>
                <a:path h="1404874" w="1583309">
                  <a:moveTo>
                    <a:pt x="0" y="0"/>
                  </a:moveTo>
                  <a:lnTo>
                    <a:pt x="1583309" y="0"/>
                  </a:lnTo>
                  <a:lnTo>
                    <a:pt x="1583309" y="1404874"/>
                  </a:lnTo>
                  <a:lnTo>
                    <a:pt x="0" y="1404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180556" y="2128514"/>
            <a:ext cx="3314700" cy="1847945"/>
            <a:chOff x="0" y="0"/>
            <a:chExt cx="4419600" cy="24639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19600" cy="2463927"/>
            </a:xfrm>
            <a:custGeom>
              <a:avLst/>
              <a:gdLst/>
              <a:ahLst/>
              <a:cxnLst/>
              <a:rect r="r" b="b" t="t" l="l"/>
              <a:pathLst>
                <a:path h="2463927" w="4419600">
                  <a:moveTo>
                    <a:pt x="0" y="0"/>
                  </a:moveTo>
                  <a:lnTo>
                    <a:pt x="4419600" y="0"/>
                  </a:lnTo>
                  <a:lnTo>
                    <a:pt x="4419600" y="2463927"/>
                  </a:lnTo>
                  <a:lnTo>
                    <a:pt x="0" y="2463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40" r="0" b="-24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237339" y="2507818"/>
            <a:ext cx="1315307" cy="1315307"/>
            <a:chOff x="0" y="0"/>
            <a:chExt cx="1753743" cy="17537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53743" cy="1753743"/>
            </a:xfrm>
            <a:custGeom>
              <a:avLst/>
              <a:gdLst/>
              <a:ahLst/>
              <a:cxnLst/>
              <a:rect r="r" b="b" t="t" l="l"/>
              <a:pathLst>
                <a:path h="1753743" w="1753743">
                  <a:moveTo>
                    <a:pt x="0" y="0"/>
                  </a:moveTo>
                  <a:lnTo>
                    <a:pt x="1753743" y="0"/>
                  </a:lnTo>
                  <a:lnTo>
                    <a:pt x="1753743" y="1753743"/>
                  </a:lnTo>
                  <a:lnTo>
                    <a:pt x="0" y="1753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910245" y="2354494"/>
            <a:ext cx="2564987" cy="1621917"/>
            <a:chOff x="0" y="0"/>
            <a:chExt cx="3419983" cy="21625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19983" cy="2162556"/>
            </a:xfrm>
            <a:custGeom>
              <a:avLst/>
              <a:gdLst/>
              <a:ahLst/>
              <a:cxnLst/>
              <a:rect r="r" b="b" t="t" l="l"/>
              <a:pathLst>
                <a:path h="2162556" w="3419983">
                  <a:moveTo>
                    <a:pt x="0" y="0"/>
                  </a:moveTo>
                  <a:lnTo>
                    <a:pt x="3419983" y="0"/>
                  </a:lnTo>
                  <a:lnTo>
                    <a:pt x="3419983" y="2162556"/>
                  </a:lnTo>
                  <a:lnTo>
                    <a:pt x="0" y="2162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" r="0" b="-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374982" y="2128514"/>
            <a:ext cx="1847945" cy="1847945"/>
            <a:chOff x="0" y="0"/>
            <a:chExt cx="2463927" cy="24639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63927" cy="2463927"/>
            </a:xfrm>
            <a:custGeom>
              <a:avLst/>
              <a:gdLst/>
              <a:ahLst/>
              <a:cxnLst/>
              <a:rect r="r" b="b" t="t" l="l"/>
              <a:pathLst>
                <a:path h="2463927" w="2463927">
                  <a:moveTo>
                    <a:pt x="0" y="0"/>
                  </a:moveTo>
                  <a:lnTo>
                    <a:pt x="2463927" y="0"/>
                  </a:lnTo>
                  <a:lnTo>
                    <a:pt x="2463927" y="2463927"/>
                  </a:lnTo>
                  <a:lnTo>
                    <a:pt x="0" y="2463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409104" y="2128514"/>
            <a:ext cx="1847945" cy="1847945"/>
            <a:chOff x="0" y="0"/>
            <a:chExt cx="2463927" cy="24639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63927" cy="2463927"/>
            </a:xfrm>
            <a:custGeom>
              <a:avLst/>
              <a:gdLst/>
              <a:ahLst/>
              <a:cxnLst/>
              <a:rect r="r" b="b" t="t" l="l"/>
              <a:pathLst>
                <a:path h="2463927" w="2463927">
                  <a:moveTo>
                    <a:pt x="0" y="0"/>
                  </a:moveTo>
                  <a:lnTo>
                    <a:pt x="2463927" y="0"/>
                  </a:lnTo>
                  <a:lnTo>
                    <a:pt x="2463927" y="2463927"/>
                  </a:lnTo>
                  <a:lnTo>
                    <a:pt x="0" y="2463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3860406" y="3958199"/>
            <a:ext cx="1820323" cy="741731"/>
          </a:xfrm>
          <a:custGeom>
            <a:avLst/>
            <a:gdLst/>
            <a:ahLst/>
            <a:cxnLst/>
            <a:rect r="r" b="b" t="t" l="l"/>
            <a:pathLst>
              <a:path h="741731" w="1820323">
                <a:moveTo>
                  <a:pt x="0" y="0"/>
                </a:moveTo>
                <a:lnTo>
                  <a:pt x="1820323" y="0"/>
                </a:lnTo>
                <a:lnTo>
                  <a:pt x="1820323" y="741731"/>
                </a:lnTo>
                <a:lnTo>
                  <a:pt x="0" y="741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0" t="0" r="-15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3878666" y="4049487"/>
            <a:ext cx="1783804" cy="632193"/>
            <a:chOff x="0" y="0"/>
            <a:chExt cx="2378405" cy="8429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78456" cy="842899"/>
            </a:xfrm>
            <a:custGeom>
              <a:avLst/>
              <a:gdLst/>
              <a:ahLst/>
              <a:cxnLst/>
              <a:rect r="r" b="b" t="t" l="l"/>
              <a:pathLst>
                <a:path h="842899" w="2378456">
                  <a:moveTo>
                    <a:pt x="0" y="0"/>
                  </a:moveTo>
                  <a:lnTo>
                    <a:pt x="2378456" y="0"/>
                  </a:lnTo>
                  <a:lnTo>
                    <a:pt x="2378456" y="842899"/>
                  </a:lnTo>
                  <a:lnTo>
                    <a:pt x="0" y="8428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41" r="2" b="-4943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878666" y="4063775"/>
            <a:ext cx="1783804" cy="617906"/>
            <a:chOff x="0" y="0"/>
            <a:chExt cx="2378405" cy="82387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78405" cy="823874"/>
            </a:xfrm>
            <a:custGeom>
              <a:avLst/>
              <a:gdLst/>
              <a:ahLst/>
              <a:cxnLst/>
              <a:rect r="r" b="b" t="t" l="l"/>
              <a:pathLst>
                <a:path h="823874" w="2378405">
                  <a:moveTo>
                    <a:pt x="0" y="0"/>
                  </a:moveTo>
                  <a:lnTo>
                    <a:pt x="2378405" y="0"/>
                  </a:lnTo>
                  <a:lnTo>
                    <a:pt x="2378405" y="823874"/>
                  </a:lnTo>
                  <a:lnTo>
                    <a:pt x="0" y="82387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50" r="0" b="-625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2378405" cy="804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87"/>
                </a:lnSpc>
              </a:pPr>
              <a:r>
                <a:rPr lang="en-US" sz="1575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r</a:t>
              </a:r>
              <a:r>
                <a:rPr lang="en-US" sz="1575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Netlify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7258469" y="3958199"/>
            <a:ext cx="1820323" cy="741731"/>
          </a:xfrm>
          <a:custGeom>
            <a:avLst/>
            <a:gdLst/>
            <a:ahLst/>
            <a:cxnLst/>
            <a:rect r="r" b="b" t="t" l="l"/>
            <a:pathLst>
              <a:path h="741731" w="1820323">
                <a:moveTo>
                  <a:pt x="0" y="0"/>
                </a:moveTo>
                <a:lnTo>
                  <a:pt x="1820323" y="0"/>
                </a:lnTo>
                <a:lnTo>
                  <a:pt x="1820323" y="741731"/>
                </a:lnTo>
                <a:lnTo>
                  <a:pt x="0" y="7417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50" t="0" r="-15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7276729" y="4049487"/>
            <a:ext cx="1783804" cy="632193"/>
            <a:chOff x="0" y="0"/>
            <a:chExt cx="2378405" cy="8429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78456" cy="842899"/>
            </a:xfrm>
            <a:custGeom>
              <a:avLst/>
              <a:gdLst/>
              <a:ahLst/>
              <a:cxnLst/>
              <a:rect r="r" b="b" t="t" l="l"/>
              <a:pathLst>
                <a:path h="842899" w="2378456">
                  <a:moveTo>
                    <a:pt x="0" y="0"/>
                  </a:moveTo>
                  <a:lnTo>
                    <a:pt x="2378456" y="0"/>
                  </a:lnTo>
                  <a:lnTo>
                    <a:pt x="2378456" y="842899"/>
                  </a:lnTo>
                  <a:lnTo>
                    <a:pt x="0" y="8428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41" r="2" b="-4943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276729" y="4063775"/>
            <a:ext cx="1783804" cy="617906"/>
            <a:chOff x="0" y="0"/>
            <a:chExt cx="2378405" cy="82387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78405" cy="823874"/>
            </a:xfrm>
            <a:custGeom>
              <a:avLst/>
              <a:gdLst/>
              <a:ahLst/>
              <a:cxnLst/>
              <a:rect r="r" b="b" t="t" l="l"/>
              <a:pathLst>
                <a:path h="823874" w="2378405">
                  <a:moveTo>
                    <a:pt x="0" y="0"/>
                  </a:moveTo>
                  <a:lnTo>
                    <a:pt x="2378405" y="0"/>
                  </a:lnTo>
                  <a:lnTo>
                    <a:pt x="2378405" y="823874"/>
                  </a:lnTo>
                  <a:lnTo>
                    <a:pt x="0" y="82387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50" r="0" b="-625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19050"/>
              <a:ext cx="2378405" cy="804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87"/>
                </a:lnSpc>
              </a:pPr>
              <a:r>
                <a:rPr lang="en-US" sz="1575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Free ASP Hosting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0356733" y="3958199"/>
            <a:ext cx="1820323" cy="741731"/>
          </a:xfrm>
          <a:custGeom>
            <a:avLst/>
            <a:gdLst/>
            <a:ahLst/>
            <a:cxnLst/>
            <a:rect r="r" b="b" t="t" l="l"/>
            <a:pathLst>
              <a:path h="741731" w="1820323">
                <a:moveTo>
                  <a:pt x="0" y="0"/>
                </a:moveTo>
                <a:lnTo>
                  <a:pt x="1820322" y="0"/>
                </a:lnTo>
                <a:lnTo>
                  <a:pt x="1820322" y="741731"/>
                </a:lnTo>
                <a:lnTo>
                  <a:pt x="0" y="7417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50" t="0" r="-15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0374982" y="4049487"/>
            <a:ext cx="1783804" cy="632193"/>
            <a:chOff x="0" y="0"/>
            <a:chExt cx="2378405" cy="84292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78456" cy="842899"/>
            </a:xfrm>
            <a:custGeom>
              <a:avLst/>
              <a:gdLst/>
              <a:ahLst/>
              <a:cxnLst/>
              <a:rect r="r" b="b" t="t" l="l"/>
              <a:pathLst>
                <a:path h="842899" w="2378456">
                  <a:moveTo>
                    <a:pt x="0" y="0"/>
                  </a:moveTo>
                  <a:lnTo>
                    <a:pt x="2378456" y="0"/>
                  </a:lnTo>
                  <a:lnTo>
                    <a:pt x="2378456" y="842899"/>
                  </a:lnTo>
                  <a:lnTo>
                    <a:pt x="0" y="8428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41" r="2" b="-4943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374982" y="4063775"/>
            <a:ext cx="1783804" cy="617906"/>
            <a:chOff x="0" y="0"/>
            <a:chExt cx="2378405" cy="82387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78405" cy="823874"/>
            </a:xfrm>
            <a:custGeom>
              <a:avLst/>
              <a:gdLst/>
              <a:ahLst/>
              <a:cxnLst/>
              <a:rect r="r" b="b" t="t" l="l"/>
              <a:pathLst>
                <a:path h="823874" w="2378405">
                  <a:moveTo>
                    <a:pt x="0" y="0"/>
                  </a:moveTo>
                  <a:lnTo>
                    <a:pt x="2378405" y="0"/>
                  </a:lnTo>
                  <a:lnTo>
                    <a:pt x="2378405" y="823874"/>
                  </a:lnTo>
                  <a:lnTo>
                    <a:pt x="0" y="82387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50" r="0" b="-625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19050"/>
              <a:ext cx="2378405" cy="804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87"/>
                </a:lnSpc>
              </a:pPr>
              <a:r>
                <a:rPr lang="en-US" sz="1575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r</a:t>
              </a:r>
              <a:r>
                <a:rPr lang="en-US" sz="1575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Cloudinary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3454986" y="3958199"/>
            <a:ext cx="1820323" cy="741731"/>
          </a:xfrm>
          <a:custGeom>
            <a:avLst/>
            <a:gdLst/>
            <a:ahLst/>
            <a:cxnLst/>
            <a:rect r="r" b="b" t="t" l="l"/>
            <a:pathLst>
              <a:path h="741731" w="1820323">
                <a:moveTo>
                  <a:pt x="0" y="0"/>
                </a:moveTo>
                <a:lnTo>
                  <a:pt x="1820323" y="0"/>
                </a:lnTo>
                <a:lnTo>
                  <a:pt x="1820323" y="741731"/>
                </a:lnTo>
                <a:lnTo>
                  <a:pt x="0" y="7417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50" t="0" r="-15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3473246" y="4049487"/>
            <a:ext cx="1783804" cy="632193"/>
            <a:chOff x="0" y="0"/>
            <a:chExt cx="2378405" cy="8429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378456" cy="842899"/>
            </a:xfrm>
            <a:custGeom>
              <a:avLst/>
              <a:gdLst/>
              <a:ahLst/>
              <a:cxnLst/>
              <a:rect r="r" b="b" t="t" l="l"/>
              <a:pathLst>
                <a:path h="842899" w="2378456">
                  <a:moveTo>
                    <a:pt x="0" y="0"/>
                  </a:moveTo>
                  <a:lnTo>
                    <a:pt x="2378456" y="0"/>
                  </a:lnTo>
                  <a:lnTo>
                    <a:pt x="2378456" y="842899"/>
                  </a:lnTo>
                  <a:lnTo>
                    <a:pt x="0" y="8428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41" r="2" b="-4943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473246" y="4063775"/>
            <a:ext cx="1783804" cy="617906"/>
            <a:chOff x="0" y="0"/>
            <a:chExt cx="2378405" cy="82387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78405" cy="823874"/>
            </a:xfrm>
            <a:custGeom>
              <a:avLst/>
              <a:gdLst/>
              <a:ahLst/>
              <a:cxnLst/>
              <a:rect r="r" b="b" t="t" l="l"/>
              <a:pathLst>
                <a:path h="823874" w="2378405">
                  <a:moveTo>
                    <a:pt x="0" y="0"/>
                  </a:moveTo>
                  <a:lnTo>
                    <a:pt x="2378405" y="0"/>
                  </a:lnTo>
                  <a:lnTo>
                    <a:pt x="2378405" y="823874"/>
                  </a:lnTo>
                  <a:lnTo>
                    <a:pt x="0" y="82387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50" r="0" b="-625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19050"/>
              <a:ext cx="2378405" cy="804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87"/>
                </a:lnSpc>
              </a:pPr>
              <a:r>
                <a:rPr lang="en-US" sz="1575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r</a:t>
              </a:r>
              <a:r>
                <a:rPr lang="en-US" sz="1575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SendGrid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152400" y="2507818"/>
            <a:ext cx="1468660" cy="1468660"/>
            <a:chOff x="0" y="0"/>
            <a:chExt cx="1958213" cy="195821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58213" cy="1958213"/>
            </a:xfrm>
            <a:custGeom>
              <a:avLst/>
              <a:gdLst/>
              <a:ahLst/>
              <a:cxnLst/>
              <a:rect r="r" b="b" t="t" l="l"/>
              <a:pathLst>
                <a:path h="1958213" w="1958213">
                  <a:moveTo>
                    <a:pt x="0" y="0"/>
                  </a:moveTo>
                  <a:lnTo>
                    <a:pt x="1958213" y="0"/>
                  </a:lnTo>
                  <a:lnTo>
                    <a:pt x="1958213" y="1958213"/>
                  </a:lnTo>
                  <a:lnTo>
                    <a:pt x="0" y="1958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-565823" y="4783255"/>
            <a:ext cx="4085234" cy="98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Размещение backend части</a:t>
            </a:r>
          </a:p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приложения</a:t>
            </a:r>
          </a:p>
          <a:p>
            <a:pPr algn="ctr">
              <a:lnSpc>
                <a:spcPts val="2204"/>
              </a:lnSpc>
            </a:pPr>
          </a:p>
        </p:txBody>
      </p:sp>
      <p:sp>
        <p:nvSpPr>
          <p:cNvPr name="TextBox 48" id="48"/>
          <p:cNvSpPr txBox="true"/>
          <p:nvPr/>
        </p:nvSpPr>
        <p:spPr>
          <a:xfrm rot="0">
            <a:off x="3519402" y="4863332"/>
            <a:ext cx="2927156" cy="436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Xостинг frontend приложения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098272" y="4705198"/>
            <a:ext cx="2381479" cy="98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Хранение изображений, видео и аудио сообщений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060975" y="4783255"/>
            <a:ext cx="2672477" cy="712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Отправка email сообщений</a:t>
            </a:r>
          </a:p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пользователям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069846" y="4823289"/>
            <a:ext cx="2599734" cy="436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Размещение базы данных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16378" y="6265116"/>
            <a:ext cx="16301276" cy="230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3723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Использование облачных сервисов позволяет обеспечить доступность, масштабируемость и удобство развертывания приложения.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165990" y="9774384"/>
            <a:ext cx="6102601" cy="512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1"/>
              </a:lnSpc>
            </a:pPr>
            <a:r>
              <a:rPr lang="en-US" sz="189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© 2026 TextMe. All rights reserved.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16134140" y="3958199"/>
            <a:ext cx="1662732" cy="743407"/>
          </a:xfrm>
          <a:custGeom>
            <a:avLst/>
            <a:gdLst/>
            <a:ahLst/>
            <a:cxnLst/>
            <a:rect r="r" b="b" t="t" l="l"/>
            <a:pathLst>
              <a:path h="743407" w="1662732">
                <a:moveTo>
                  <a:pt x="0" y="0"/>
                </a:moveTo>
                <a:lnTo>
                  <a:pt x="1662732" y="0"/>
                </a:lnTo>
                <a:lnTo>
                  <a:pt x="1662732" y="743408"/>
                </a:lnTo>
                <a:lnTo>
                  <a:pt x="0" y="74340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484" r="0" b="-484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16152400" y="4049487"/>
            <a:ext cx="1626222" cy="633860"/>
            <a:chOff x="0" y="0"/>
            <a:chExt cx="2168296" cy="84514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68271" cy="845185"/>
            </a:xfrm>
            <a:custGeom>
              <a:avLst/>
              <a:gdLst/>
              <a:ahLst/>
              <a:cxnLst/>
              <a:rect r="r" b="b" t="t" l="l"/>
              <a:pathLst>
                <a:path h="845185" w="2168271">
                  <a:moveTo>
                    <a:pt x="0" y="0"/>
                  </a:moveTo>
                  <a:lnTo>
                    <a:pt x="2168271" y="0"/>
                  </a:lnTo>
                  <a:lnTo>
                    <a:pt x="2168271" y="845185"/>
                  </a:lnTo>
                  <a:lnTo>
                    <a:pt x="0" y="8451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4" t="0" r="-45" b="4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6152400" y="4063775"/>
            <a:ext cx="1626222" cy="619573"/>
            <a:chOff x="0" y="0"/>
            <a:chExt cx="2168296" cy="82609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68296" cy="826097"/>
            </a:xfrm>
            <a:custGeom>
              <a:avLst/>
              <a:gdLst/>
              <a:ahLst/>
              <a:cxnLst/>
              <a:rect r="r" b="b" t="t" l="l"/>
              <a:pathLst>
                <a:path h="826097" w="2168296">
                  <a:moveTo>
                    <a:pt x="0" y="0"/>
                  </a:moveTo>
                  <a:lnTo>
                    <a:pt x="2168296" y="0"/>
                  </a:lnTo>
                  <a:lnTo>
                    <a:pt x="2168296" y="826097"/>
                  </a:lnTo>
                  <a:lnTo>
                    <a:pt x="0" y="82609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43" r="0" b="-114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19050"/>
              <a:ext cx="2168296" cy="8070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87"/>
                </a:lnSpc>
              </a:pPr>
              <a:r>
                <a:rPr lang="en-US" sz="1575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r</a:t>
              </a:r>
              <a:r>
                <a:rPr lang="en-US" sz="1575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Epxo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5923066" y="4725210"/>
            <a:ext cx="2364934" cy="1264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Мгновенный запуск приложения на телефоне через обычный QR-код.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95077" y="5430355"/>
            <a:ext cx="22109554" cy="20275744"/>
          </a:xfrm>
          <a:custGeom>
            <a:avLst/>
            <a:gdLst/>
            <a:ahLst/>
            <a:cxnLst/>
            <a:rect r="r" b="b" t="t" l="l"/>
            <a:pathLst>
              <a:path h="20275744" w="22109554">
                <a:moveTo>
                  <a:pt x="0" y="0"/>
                </a:moveTo>
                <a:lnTo>
                  <a:pt x="22109554" y="0"/>
                </a:lnTo>
                <a:lnTo>
                  <a:pt x="22109554" y="20275744"/>
                </a:lnTo>
                <a:lnTo>
                  <a:pt x="0" y="202757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" t="0" r="-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80111" y="3941207"/>
            <a:ext cx="5388292" cy="2290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1"/>
              </a:lnSpc>
            </a:pPr>
            <a:r>
              <a:rPr lang="en-US" b="true" sz="14279" spc="-59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Thank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187482" cy="1053656"/>
            <a:chOff x="0" y="0"/>
            <a:chExt cx="1583309" cy="14048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83309" cy="1404874"/>
            </a:xfrm>
            <a:custGeom>
              <a:avLst/>
              <a:gdLst/>
              <a:ahLst/>
              <a:cxnLst/>
              <a:rect r="r" b="b" t="t" l="l"/>
              <a:pathLst>
                <a:path h="1404874" w="1583309">
                  <a:moveTo>
                    <a:pt x="0" y="0"/>
                  </a:moveTo>
                  <a:lnTo>
                    <a:pt x="1583309" y="0"/>
                  </a:lnTo>
                  <a:lnTo>
                    <a:pt x="1583309" y="1404874"/>
                  </a:lnTo>
                  <a:lnTo>
                    <a:pt x="0" y="1404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092704" y="9774384"/>
            <a:ext cx="6102601" cy="512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1"/>
              </a:lnSpc>
            </a:pPr>
            <a:r>
              <a:rPr lang="en-US" sz="189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© 2026 TextMe. All rights reserved.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68404" y="4321207"/>
            <a:ext cx="3453794" cy="1847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79"/>
              </a:lnSpc>
            </a:pPr>
            <a:r>
              <a:rPr lang="en-US" b="true" sz="14294" spc="-228">
                <a:solidFill>
                  <a:srgbClr val="00B4FE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DAHH1Y19lcI</dc:identifier>
  <dcterms:modified xsi:type="dcterms:W3CDTF">2011-08-01T06:04:30Z</dcterms:modified>
  <cp:revision>1</cp:revision>
  <dc:title>TextMe.pptx</dc:title>
</cp:coreProperties>
</file>